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Bold" charset="1" panose="00000800000000000000"/>
      <p:regular r:id="rId16"/>
    </p:embeddedFont>
    <p:embeddedFont>
      <p:font typeface="Maragsa" charset="1" panose="00000000000000000000"/>
      <p:regular r:id="rId17"/>
    </p:embeddedFont>
    <p:embeddedFont>
      <p:font typeface="Telegraf" charset="1" panose="00000500000000000000"/>
      <p:regular r:id="rId18"/>
    </p:embeddedFont>
    <p:embeddedFont>
      <p:font typeface="Agrandir" charset="1" panose="00000500000000000000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2959" y="-2455521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0195" y="7090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46664" y="751286"/>
            <a:ext cx="959467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Real-Time Contamination Detection and Recovery Protocol for Continuous Bioprocessing Systems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278576">
            <a:off x="15030195" y="-2057400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727" y="3577185"/>
            <a:ext cx="3568569" cy="4516973"/>
          </a:xfrm>
          <a:custGeom>
            <a:avLst/>
            <a:gdLst/>
            <a:ahLst/>
            <a:cxnLst/>
            <a:rect r="r" b="b" t="t" l="l"/>
            <a:pathLst>
              <a:path h="4516973" w="3568569">
                <a:moveTo>
                  <a:pt x="0" y="0"/>
                </a:moveTo>
                <a:lnTo>
                  <a:pt x="3568570" y="0"/>
                </a:lnTo>
                <a:lnTo>
                  <a:pt x="3568570" y="4516972"/>
                </a:lnTo>
                <a:lnTo>
                  <a:pt x="0" y="45169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21325" y="5076825"/>
            <a:ext cx="6845350" cy="356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Team Members: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JOSHI HEER DEVANGKUMAR(2203051440102)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K JESHVANT ANJANAYA VARMA (2203051440103)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KADARLA KRISHNA VAMSHI(2203051440104)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KALRAV YAGNESHWAR(2203051440105)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KANISHK CHHIPANI(220301440106)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KASI REDDY VASAVI (2203051440107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</a:p>
          <a:p>
            <a:pPr algn="ctr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80526" y="2361596"/>
            <a:ext cx="11126949" cy="91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Assignment 2- Bioprocess engineering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95052" y="3890495"/>
            <a:ext cx="5497897" cy="899216"/>
            <a:chOff x="0" y="0"/>
            <a:chExt cx="7330529" cy="11989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7330529" cy="601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Faculty Name: Dr Sanjukta Banerjee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75863" y="597560"/>
              <a:ext cx="6135688" cy="601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Semester: 6th Semester (6A2)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7891" y="1214306"/>
            <a:ext cx="94551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ASSIGNMENT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6272" y="2965384"/>
            <a:ext cx="17215220" cy="132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To design a real-time contamination detection and recovery protocol for a continuous bioprocessing system that ensures product quality while minimizing production interruptions.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6272" y="4847636"/>
            <a:ext cx="17445101" cy="17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Continuous production systems are prone to microbial contamination, which can compromise product integrity. Developing real-time detection and recovery methods is essential to maintain sterility, minimize downtime, and ensure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3467" y="895350"/>
            <a:ext cx="1090106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BACKGROUND AND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97867" y="2634725"/>
            <a:ext cx="2288418" cy="51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 u="sng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concepts: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6093" y="3340285"/>
            <a:ext cx="6631967" cy="17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Sterilization Methods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Microbial and Detection Methods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Challenges behind Continous fermentation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03398" y="5600786"/>
            <a:ext cx="3677357" cy="51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 u="sng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 addressed: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69880" y="6315871"/>
            <a:ext cx="10722943" cy="311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ore effective sterilization process - pre treating steam pipes, air flow pipes, exhaust pipes and other valves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Rapid microbial detection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Trying to prevent contamination by not affecting the product quality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9533" y="2218686"/>
            <a:ext cx="12247428" cy="5142050"/>
          </a:xfrm>
          <a:custGeom>
            <a:avLst/>
            <a:gdLst/>
            <a:ahLst/>
            <a:cxnLst/>
            <a:rect r="r" b="b" t="t" l="l"/>
            <a:pathLst>
              <a:path h="5142050" w="12247428">
                <a:moveTo>
                  <a:pt x="0" y="0"/>
                </a:moveTo>
                <a:lnTo>
                  <a:pt x="12247428" y="0"/>
                </a:lnTo>
                <a:lnTo>
                  <a:pt x="12247428" y="5142050"/>
                </a:lnTo>
                <a:lnTo>
                  <a:pt x="0" y="5142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6252" y="-709744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122132" y="-2287281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24991" y="7478258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10515" y="7478151"/>
            <a:ext cx="9266969" cy="48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Figure: </a:t>
            </a: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Continous fermentation flow diagram in Beer production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73" y="2806463"/>
            <a:ext cx="18144427" cy="486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Biosensors and Flourescence probes: </a:t>
            </a:r>
            <a:r>
              <a:rPr lang="en-US" sz="3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For impurity dectection and contamination detection (real time detection of microbes and impurities)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Flow Cytometry: </a:t>
            </a:r>
            <a:r>
              <a:rPr lang="en-US" sz="3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Real-time analysis of microbial cells.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Spectroscopy: </a:t>
            </a:r>
            <a:r>
              <a:rPr lang="en-US" sz="3000" u="sng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Raman and near-infrared (NIR) spectroscopy</a:t>
            </a:r>
            <a:r>
              <a:rPr lang="en-US" sz="3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for detecting contamination signatures.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Automated Sampling Units: </a:t>
            </a:r>
            <a:r>
              <a:rPr lang="en-US" sz="3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Aseptic, periodic sampling for rapid microbial culture or PCR analysis.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14825" y="1142099"/>
            <a:ext cx="7521959" cy="79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Real-Time Detection Methods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016252" y="-1801681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83946" y="7516572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7258" y="6022374"/>
            <a:ext cx="652435" cy="595495"/>
          </a:xfrm>
          <a:custGeom>
            <a:avLst/>
            <a:gdLst/>
            <a:ahLst/>
            <a:cxnLst/>
            <a:rect r="r" b="b" t="t" l="l"/>
            <a:pathLst>
              <a:path h="595495" w="652435">
                <a:moveTo>
                  <a:pt x="0" y="0"/>
                </a:moveTo>
                <a:lnTo>
                  <a:pt x="652435" y="0"/>
                </a:lnTo>
                <a:lnTo>
                  <a:pt x="652435" y="595495"/>
                </a:lnTo>
                <a:lnTo>
                  <a:pt x="0" y="595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3036" y="2468783"/>
            <a:ext cx="360879" cy="1154813"/>
          </a:xfrm>
          <a:custGeom>
            <a:avLst/>
            <a:gdLst/>
            <a:ahLst/>
            <a:cxnLst/>
            <a:rect r="r" b="b" t="t" l="l"/>
            <a:pathLst>
              <a:path h="1154813" w="360879">
                <a:moveTo>
                  <a:pt x="0" y="0"/>
                </a:moveTo>
                <a:lnTo>
                  <a:pt x="360879" y="0"/>
                </a:lnTo>
                <a:lnTo>
                  <a:pt x="360879" y="1154814"/>
                </a:lnTo>
                <a:lnTo>
                  <a:pt x="0" y="1154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1408" y="2468783"/>
            <a:ext cx="538346" cy="979363"/>
          </a:xfrm>
          <a:custGeom>
            <a:avLst/>
            <a:gdLst/>
            <a:ahLst/>
            <a:cxnLst/>
            <a:rect r="r" b="b" t="t" l="l"/>
            <a:pathLst>
              <a:path h="979363" w="538346">
                <a:moveTo>
                  <a:pt x="0" y="0"/>
                </a:moveTo>
                <a:lnTo>
                  <a:pt x="538345" y="0"/>
                </a:lnTo>
                <a:lnTo>
                  <a:pt x="538345" y="979364"/>
                </a:lnTo>
                <a:lnTo>
                  <a:pt x="0" y="9793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73042" y="5486502"/>
            <a:ext cx="1355077" cy="1071742"/>
          </a:xfrm>
          <a:custGeom>
            <a:avLst/>
            <a:gdLst/>
            <a:ahLst/>
            <a:cxnLst/>
            <a:rect r="r" b="b" t="t" l="l"/>
            <a:pathLst>
              <a:path h="1071742" w="1355077">
                <a:moveTo>
                  <a:pt x="0" y="0"/>
                </a:moveTo>
                <a:lnTo>
                  <a:pt x="1355077" y="0"/>
                </a:lnTo>
                <a:lnTo>
                  <a:pt x="1355077" y="1071743"/>
                </a:lnTo>
                <a:lnTo>
                  <a:pt x="0" y="10717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52799" y="2858884"/>
            <a:ext cx="5169837" cy="1637090"/>
            <a:chOff x="0" y="0"/>
            <a:chExt cx="6893116" cy="21827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80966" y="1442247"/>
              <a:ext cx="6612149" cy="61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80966" y="-114300"/>
              <a:ext cx="6612149" cy="119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Steam-in-Place(SIP):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09204"/>
              <a:ext cx="6612149" cy="1473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SIP sterilizes pipelines, fermenters, and other equipment using high-pressure steam (121–135°C) for 15–30 minutes.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559600" y="562610"/>
            <a:ext cx="5168801" cy="75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Sterilization Methods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19193" y="2744584"/>
            <a:ext cx="4384408" cy="48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Clean-in-Place(CIP):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155092" y="5716413"/>
            <a:ext cx="4959112" cy="4119783"/>
            <a:chOff x="0" y="0"/>
            <a:chExt cx="6612149" cy="549304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58097"/>
              <a:ext cx="6612149" cy="61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6612149" cy="61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Filtration sterlization: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40690"/>
              <a:ext cx="5458044" cy="4852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9"/>
                </a:lnSpc>
                <a:spcBef>
                  <a:spcPct val="0"/>
                </a:spcBef>
              </a:pPr>
              <a:r>
                <a:rPr lang="en-US" sz="2063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1)Removes microorganisms using pore sizes of 0.1–0.5 µm.</a:t>
              </a:r>
            </a:p>
            <a:p>
              <a:pPr algn="l">
                <a:lnSpc>
                  <a:spcPts val="2889"/>
                </a:lnSpc>
                <a:spcBef>
                  <a:spcPct val="0"/>
                </a:spcBef>
              </a:pPr>
            </a:p>
            <a:p>
              <a:pPr algn="l">
                <a:lnSpc>
                  <a:spcPts val="2889"/>
                </a:lnSpc>
                <a:spcBef>
                  <a:spcPct val="0"/>
                </a:spcBef>
              </a:pPr>
              <a:r>
                <a:rPr lang="en-US" sz="2063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2)Used for removing particulate matter, including dead yeast cells, during beer clarification.</a:t>
              </a:r>
            </a:p>
            <a:p>
              <a:pPr algn="l">
                <a:lnSpc>
                  <a:spcPts val="2889"/>
                </a:lnSpc>
                <a:spcBef>
                  <a:spcPct val="0"/>
                </a:spcBef>
              </a:pPr>
            </a:p>
            <a:p>
              <a:pPr algn="l">
                <a:lnSpc>
                  <a:spcPts val="2889"/>
                </a:lnSpc>
                <a:spcBef>
                  <a:spcPct val="0"/>
                </a:spcBef>
              </a:pPr>
              <a:r>
                <a:rPr lang="en-US" sz="2063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3)Ensures CO₂ and air used in beer production are free from contaminants.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04252" y="3346478"/>
            <a:ext cx="4384408" cy="149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  <a:spcBef>
                <a:spcPct val="0"/>
              </a:spcBef>
            </a:pPr>
            <a:r>
              <a:rPr lang="en-US" sz="206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CIP involves automated cleaning of pipelines, fermenters, and storage tanks without disassembling the equipment</a:t>
            </a:r>
            <a:r>
              <a:rPr lang="en-US" b="true" sz="206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83475" y="6159711"/>
            <a:ext cx="6255843" cy="1616593"/>
            <a:chOff x="0" y="0"/>
            <a:chExt cx="8341124" cy="215545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809449" y="-114300"/>
              <a:ext cx="7531675" cy="1197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UV-C Sterilization methods-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1876"/>
              <a:ext cx="7464775" cy="1473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UV-C light (wavelength: 200–280 nm) destroys microbial DNA, preventing replication.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71748" y="0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6252" y="-709744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20560" y="1347656"/>
            <a:ext cx="2037862" cy="1089571"/>
            <a:chOff x="0" y="0"/>
            <a:chExt cx="483193" cy="258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3193" cy="258346"/>
            </a:xfrm>
            <a:custGeom>
              <a:avLst/>
              <a:gdLst/>
              <a:ahLst/>
              <a:cxnLst/>
              <a:rect r="r" b="b" t="t" l="l"/>
              <a:pathLst>
                <a:path h="258346" w="483193">
                  <a:moveTo>
                    <a:pt x="129173" y="0"/>
                  </a:moveTo>
                  <a:lnTo>
                    <a:pt x="354020" y="0"/>
                  </a:lnTo>
                  <a:cubicBezTo>
                    <a:pt x="388279" y="0"/>
                    <a:pt x="421134" y="13609"/>
                    <a:pt x="445359" y="37834"/>
                  </a:cubicBezTo>
                  <a:cubicBezTo>
                    <a:pt x="469583" y="62058"/>
                    <a:pt x="483193" y="94914"/>
                    <a:pt x="483193" y="129173"/>
                  </a:cubicBezTo>
                  <a:lnTo>
                    <a:pt x="483193" y="129173"/>
                  </a:lnTo>
                  <a:cubicBezTo>
                    <a:pt x="483193" y="200513"/>
                    <a:pt x="425360" y="258346"/>
                    <a:pt x="354020" y="258346"/>
                  </a:cubicBezTo>
                  <a:lnTo>
                    <a:pt x="129173" y="258346"/>
                  </a:lnTo>
                  <a:cubicBezTo>
                    <a:pt x="57833" y="258346"/>
                    <a:pt x="0" y="200513"/>
                    <a:pt x="0" y="129173"/>
                  </a:cubicBezTo>
                  <a:lnTo>
                    <a:pt x="0" y="129173"/>
                  </a:lnTo>
                  <a:cubicBezTo>
                    <a:pt x="0" y="57833"/>
                    <a:pt x="57833" y="0"/>
                    <a:pt x="129173" y="0"/>
                  </a:cubicBezTo>
                  <a:close/>
                </a:path>
              </a:pathLst>
            </a:custGeom>
            <a:solidFill>
              <a:srgbClr val="CDD6C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83193" cy="277396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3030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Raw material Sterilization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93030" y="3364180"/>
            <a:ext cx="1965392" cy="826254"/>
            <a:chOff x="0" y="0"/>
            <a:chExt cx="466009" cy="1959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6009" cy="195911"/>
            </a:xfrm>
            <a:custGeom>
              <a:avLst/>
              <a:gdLst/>
              <a:ahLst/>
              <a:cxnLst/>
              <a:rect r="r" b="b" t="t" l="l"/>
              <a:pathLst>
                <a:path h="195911" w="466009">
                  <a:moveTo>
                    <a:pt x="0" y="0"/>
                  </a:moveTo>
                  <a:lnTo>
                    <a:pt x="466009" y="0"/>
                  </a:lnTo>
                  <a:lnTo>
                    <a:pt x="466009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66009" cy="214961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3030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Wort sterilization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04773" y="2437226"/>
            <a:ext cx="2680162" cy="26801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FCAC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3030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Pipeline sterilization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3030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(CIP)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31287" y="1347656"/>
            <a:ext cx="1965392" cy="826254"/>
            <a:chOff x="0" y="0"/>
            <a:chExt cx="466009" cy="195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6009" cy="195911"/>
            </a:xfrm>
            <a:custGeom>
              <a:avLst/>
              <a:gdLst/>
              <a:ahLst/>
              <a:cxnLst/>
              <a:rect r="r" b="b" t="t" l="l"/>
              <a:pathLst>
                <a:path h="195911" w="466009">
                  <a:moveTo>
                    <a:pt x="0" y="0"/>
                  </a:moveTo>
                  <a:lnTo>
                    <a:pt x="466009" y="0"/>
                  </a:lnTo>
                  <a:lnTo>
                    <a:pt x="466009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66009" cy="214961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UVC and SIP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31287" y="3364180"/>
            <a:ext cx="1965392" cy="826254"/>
            <a:chOff x="0" y="0"/>
            <a:chExt cx="466009" cy="195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6009" cy="195911"/>
            </a:xfrm>
            <a:custGeom>
              <a:avLst/>
              <a:gdLst/>
              <a:ahLst/>
              <a:cxnLst/>
              <a:rect r="r" b="b" t="t" l="l"/>
              <a:pathLst>
                <a:path h="195911" w="466009">
                  <a:moveTo>
                    <a:pt x="0" y="0"/>
                  </a:moveTo>
                  <a:lnTo>
                    <a:pt x="466009" y="0"/>
                  </a:lnTo>
                  <a:lnTo>
                    <a:pt x="466009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66009" cy="195911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Fermenter sterilization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52892" y="6030279"/>
            <a:ext cx="2060438" cy="1715137"/>
            <a:chOff x="0" y="0"/>
            <a:chExt cx="488546" cy="406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8546" cy="406672"/>
            </a:xfrm>
            <a:custGeom>
              <a:avLst/>
              <a:gdLst/>
              <a:ahLst/>
              <a:cxnLst/>
              <a:rect r="r" b="b" t="t" l="l"/>
              <a:pathLst>
                <a:path h="406672" w="488546">
                  <a:moveTo>
                    <a:pt x="0" y="0"/>
                  </a:moveTo>
                  <a:lnTo>
                    <a:pt x="488546" y="0"/>
                  </a:lnTo>
                  <a:lnTo>
                    <a:pt x="488546" y="406672"/>
                  </a:lnTo>
                  <a:lnTo>
                    <a:pt x="0" y="406672"/>
                  </a:lnTo>
                  <a:close/>
                </a:path>
              </a:pathLst>
            </a:custGeom>
            <a:solidFill>
              <a:srgbClr val="EDD0B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88546" cy="425722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Fermentation  monitoring (probes and sensors) and continous cleaning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5369" y="8477005"/>
            <a:ext cx="2155484" cy="1354477"/>
            <a:chOff x="0" y="0"/>
            <a:chExt cx="511082" cy="321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1082" cy="321157"/>
            </a:xfrm>
            <a:custGeom>
              <a:avLst/>
              <a:gdLst/>
              <a:ahLst/>
              <a:cxnLst/>
              <a:rect r="r" b="b" t="t" l="l"/>
              <a:pathLst>
                <a:path h="321157" w="511082">
                  <a:moveTo>
                    <a:pt x="143669" y="0"/>
                  </a:moveTo>
                  <a:lnTo>
                    <a:pt x="367413" y="0"/>
                  </a:lnTo>
                  <a:cubicBezTo>
                    <a:pt x="405516" y="0"/>
                    <a:pt x="442059" y="15137"/>
                    <a:pt x="469002" y="42080"/>
                  </a:cubicBezTo>
                  <a:cubicBezTo>
                    <a:pt x="495945" y="69023"/>
                    <a:pt x="511082" y="105566"/>
                    <a:pt x="511082" y="143669"/>
                  </a:cubicBezTo>
                  <a:lnTo>
                    <a:pt x="511082" y="177488"/>
                  </a:lnTo>
                  <a:cubicBezTo>
                    <a:pt x="511082" y="215591"/>
                    <a:pt x="495945" y="252134"/>
                    <a:pt x="469002" y="279077"/>
                  </a:cubicBezTo>
                  <a:cubicBezTo>
                    <a:pt x="442059" y="306020"/>
                    <a:pt x="405516" y="321157"/>
                    <a:pt x="367413" y="321157"/>
                  </a:cubicBezTo>
                  <a:lnTo>
                    <a:pt x="143669" y="321157"/>
                  </a:lnTo>
                  <a:cubicBezTo>
                    <a:pt x="105566" y="321157"/>
                    <a:pt x="69023" y="306020"/>
                    <a:pt x="42080" y="279077"/>
                  </a:cubicBezTo>
                  <a:cubicBezTo>
                    <a:pt x="15137" y="252134"/>
                    <a:pt x="0" y="215591"/>
                    <a:pt x="0" y="177488"/>
                  </a:cubicBezTo>
                  <a:lnTo>
                    <a:pt x="0" y="143669"/>
                  </a:lnTo>
                  <a:cubicBezTo>
                    <a:pt x="0" y="105566"/>
                    <a:pt x="15137" y="69023"/>
                    <a:pt x="42080" y="42080"/>
                  </a:cubicBezTo>
                  <a:cubicBezTo>
                    <a:pt x="69023" y="15137"/>
                    <a:pt x="105566" y="0"/>
                    <a:pt x="143669" y="0"/>
                  </a:cubicBezTo>
                  <a:close/>
                </a:path>
              </a:pathLst>
            </a:custGeom>
            <a:solidFill>
              <a:srgbClr val="CDD6C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11082" cy="340207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transfer for further process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43030" y="2437226"/>
            <a:ext cx="2680162" cy="268016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FCA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79351" lIns="79351" bIns="79351" rIns="79351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3030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Sterile Yeast (flow cytometry can be used) preparation for aseptic inoculation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5575726" y="2173910"/>
            <a:ext cx="0" cy="119027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6558422" y="3777308"/>
            <a:ext cx="446351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9684935" y="3777308"/>
            <a:ext cx="446351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 flipV="true">
            <a:off x="11113983" y="2173910"/>
            <a:ext cx="0" cy="119027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2096678" y="3777308"/>
            <a:ext cx="446351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3883111" y="5117389"/>
            <a:ext cx="0" cy="91289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H="true">
            <a:off x="13883111" y="7745416"/>
            <a:ext cx="0" cy="731589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rot="5400000">
            <a:off x="7999193" y="2076687"/>
            <a:ext cx="691322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8329976" y="1760783"/>
            <a:ext cx="1801311" cy="0"/>
          </a:xfrm>
          <a:prstGeom prst="line">
            <a:avLst/>
          </a:prstGeom>
          <a:ln cap="rnd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37" id="37"/>
          <p:cNvSpPr txBox="true"/>
          <p:nvPr/>
        </p:nvSpPr>
        <p:spPr>
          <a:xfrm rot="0">
            <a:off x="3064808" y="7277885"/>
            <a:ext cx="8745908" cy="139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8"/>
              </a:lnSpc>
            </a:pPr>
            <a:r>
              <a:rPr lang="en-US" b="true" sz="3748" spc="2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CONTAMINATION PREVENTION</a:t>
            </a:r>
          </a:p>
          <a:p>
            <a:pPr algn="ctr">
              <a:lnSpc>
                <a:spcPts val="5248"/>
              </a:lnSpc>
            </a:pPr>
            <a:r>
              <a:rPr lang="en-US" b="true" sz="3748" spc="2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53657"/>
            <a:ext cx="15929915" cy="605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1)Finding ways to operate with minimum human intervention to prevent contamination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2)Implementing advanced automation and control systems to monitor and adjust fermentation parameters in real-time can further enhance contamination prevention.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3)Developing new novel sensor technologies to detect and quantify contaminants in real-time can enable more proactive interventions.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4)Optimizing CIP and SIP cycles within the continuous fermentation process, potentially with real-time monitoring which would help in maximizing production and reducing contaminantion 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5)Developing AI/ML programs specifically for a particular continuous production process( in this case Beer production). These developed programs can be utilized for optimizing of SIP(Steam In Pipe), CIP(Cleaning In Pipe) , Finding unsual patterns occuring during fermentation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76247" y="475212"/>
            <a:ext cx="5321578" cy="9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b="true" sz="480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Prospects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016252" y="-1801681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83946" y="7516572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66585" y="-3685727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2959" y="-2455521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0195" y="7090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878115" y="5660786"/>
            <a:ext cx="15813629" cy="16379465"/>
          </a:xfrm>
          <a:custGeom>
            <a:avLst/>
            <a:gdLst/>
            <a:ahLst/>
            <a:cxnLst/>
            <a:rect r="r" b="b" t="t" l="l"/>
            <a:pathLst>
              <a:path h="16379465" w="15813629">
                <a:moveTo>
                  <a:pt x="0" y="0"/>
                </a:moveTo>
                <a:lnTo>
                  <a:pt x="15813630" y="0"/>
                </a:lnTo>
                <a:lnTo>
                  <a:pt x="15813630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62383" y="-11235965"/>
            <a:ext cx="15813629" cy="16379465"/>
          </a:xfrm>
          <a:custGeom>
            <a:avLst/>
            <a:gdLst/>
            <a:ahLst/>
            <a:cxnLst/>
            <a:rect r="r" b="b" t="t" l="l"/>
            <a:pathLst>
              <a:path h="16379465" w="15813629">
                <a:moveTo>
                  <a:pt x="0" y="0"/>
                </a:moveTo>
                <a:lnTo>
                  <a:pt x="15813629" y="0"/>
                </a:lnTo>
                <a:lnTo>
                  <a:pt x="15813629" y="16379465"/>
                </a:lnTo>
                <a:lnTo>
                  <a:pt x="0" y="16379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42780" y="2387187"/>
            <a:ext cx="5402440" cy="109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7023" y="3825785"/>
            <a:ext cx="10489982" cy="399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8F4EB"/>
                </a:solidFill>
                <a:latin typeface="Agrandir"/>
                <a:ea typeface="Agrandir"/>
                <a:cs typeface="Agrandir"/>
                <a:sym typeface="Agrandir"/>
              </a:rPr>
              <a:t>Continuous fermentation in beer production presents a significant opportunity to enhance contamination prevention. By minimizing human intervention, maintaining stable conditions, Introducing AI/ML programs, new novel sensors for fast microbe and impurity detection and enabling real-time monitoring, this approach reduces the risk of introducing and spreading contaminants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8F4EB"/>
                </a:solidFill>
                <a:latin typeface="Agrandir"/>
                <a:ea typeface="Agrandir"/>
                <a:cs typeface="Agrandir"/>
                <a:sym typeface="Agrandir"/>
              </a:rPr>
              <a:t>However the increase in cost when solving the issues associated with contamination in beer production needs to be addressed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7035" y="1636614"/>
            <a:ext cx="6697269" cy="6660739"/>
          </a:xfrm>
          <a:custGeom>
            <a:avLst/>
            <a:gdLst/>
            <a:ahLst/>
            <a:cxnLst/>
            <a:rect r="r" b="b" t="t" l="l"/>
            <a:pathLst>
              <a:path h="6660739" w="6697269">
                <a:moveTo>
                  <a:pt x="0" y="0"/>
                </a:moveTo>
                <a:lnTo>
                  <a:pt x="6697270" y="0"/>
                </a:lnTo>
                <a:lnTo>
                  <a:pt x="6697270" y="6660739"/>
                </a:lnTo>
                <a:lnTo>
                  <a:pt x="0" y="6660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0038" y="3731333"/>
            <a:ext cx="10627924" cy="257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32"/>
              </a:lnSpc>
              <a:spcBef>
                <a:spcPct val="0"/>
              </a:spcBef>
            </a:pPr>
            <a:r>
              <a:rPr lang="en-US" sz="15023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DAGbn-bLNeA</dc:identifier>
  <dcterms:modified xsi:type="dcterms:W3CDTF">2011-08-01T06:04:30Z</dcterms:modified>
  <cp:revision>1</cp:revision>
  <dc:title>Real-Time Contamination Detection and Recovery Protocol for Continuous Bioprocessing Systems</dc:title>
</cp:coreProperties>
</file>